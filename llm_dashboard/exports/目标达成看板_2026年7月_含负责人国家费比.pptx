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各类目费比完成率（%）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费比完成率</c:v>
                </c:pt>
              </c:strCache>
            </c:strRef>
          </c:tx>
          <c:spPr>
            <a:solidFill>
              <a:srgbClr val="33608C"/>
            </a:solidFill>
          </c:spPr>
          <c:cat>
            <c:strRef>
              <c:f>Sheet1!$A$2:$A$10</c:f>
              <c:strCache>
                <c:ptCount val="9"/>
                <c:pt idx="0">
                  <c:v>理线挂钩</c:v>
                </c:pt>
                <c:pt idx="1">
                  <c:v>小夜灯</c:v>
                </c:pt>
                <c:pt idx="2">
                  <c:v>衣架连接挂钩</c:v>
                </c:pt>
                <c:pt idx="3">
                  <c:v>不锈钢贴片挂钩</c:v>
                </c:pt>
                <c:pt idx="4">
                  <c:v>塑封机</c:v>
                </c:pt>
                <c:pt idx="5">
                  <c:v>贴片挂钩</c:v>
                </c:pt>
                <c:pt idx="6">
                  <c:v>风扇</c:v>
                </c:pt>
                <c:pt idx="7">
                  <c:v>长条衣架挂钩</c:v>
                </c:pt>
                <c:pt idx="8">
                  <c:v>食品真空机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47.8</c:v>
                </c:pt>
                <c:pt idx="1">
                  <c:v>69.1</c:v>
                </c:pt>
                <c:pt idx="2">
                  <c:v>91.1</c:v>
                </c:pt>
                <c:pt idx="3">
                  <c:v>95.6</c:v>
                </c:pt>
                <c:pt idx="4">
                  <c:v>96.2</c:v>
                </c:pt>
                <c:pt idx="5">
                  <c:v>97.2</c:v>
                </c:pt>
                <c:pt idx="6">
                  <c:v>111.3</c:v>
                </c:pt>
                <c:pt idx="7">
                  <c:v>141.3</c:v>
                </c:pt>
                <c:pt idx="8">
                  <c:v>144.3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每日广告花费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每日广告花费</c:v>
                </c:pt>
              </c:strCache>
            </c:strRef>
          </c:tx>
          <c:spPr>
            <a:solidFill>
              <a:srgbClr val="33608C"/>
            </a:solidFill>
          </c:spPr>
          <c:cat>
            <c:strRef>
              <c:f>Sheet1!$A$2:$A$32</c:f>
              <c:strCache>
                <c:ptCount val="31"/>
                <c:pt idx="0">
                  <c:v>07-01</c:v>
                </c:pt>
                <c:pt idx="1">
                  <c:v>07-02</c:v>
                </c:pt>
                <c:pt idx="2">
                  <c:v>07-03</c:v>
                </c:pt>
                <c:pt idx="3">
                  <c:v>07-04</c:v>
                </c:pt>
                <c:pt idx="4">
                  <c:v>07-05</c:v>
                </c:pt>
                <c:pt idx="5">
                  <c:v>07-06</c:v>
                </c:pt>
                <c:pt idx="6">
                  <c:v>07-07</c:v>
                </c:pt>
                <c:pt idx="7">
                  <c:v>07-08</c:v>
                </c:pt>
                <c:pt idx="8">
                  <c:v>07-09</c:v>
                </c:pt>
                <c:pt idx="9">
                  <c:v>07-10</c:v>
                </c:pt>
                <c:pt idx="10">
                  <c:v>07-11</c:v>
                </c:pt>
                <c:pt idx="11">
                  <c:v>07-12</c:v>
                </c:pt>
                <c:pt idx="12">
                  <c:v>07-13</c:v>
                </c:pt>
                <c:pt idx="13">
                  <c:v>07-14</c:v>
                </c:pt>
                <c:pt idx="14">
                  <c:v>07-15</c:v>
                </c:pt>
                <c:pt idx="15">
                  <c:v>07-16</c:v>
                </c:pt>
                <c:pt idx="16">
                  <c:v>07-17</c:v>
                </c:pt>
                <c:pt idx="17">
                  <c:v>07-18</c:v>
                </c:pt>
                <c:pt idx="18">
                  <c:v>07-19</c:v>
                </c:pt>
                <c:pt idx="19">
                  <c:v>07-20</c:v>
                </c:pt>
                <c:pt idx="20">
                  <c:v>07-21</c:v>
                </c:pt>
                <c:pt idx="21">
                  <c:v>07-22</c:v>
                </c:pt>
                <c:pt idx="22">
                  <c:v>07-23</c:v>
                </c:pt>
                <c:pt idx="23">
                  <c:v>07-24</c:v>
                </c:pt>
                <c:pt idx="24">
                  <c:v>07-25</c:v>
                </c:pt>
                <c:pt idx="25">
                  <c:v>07-26</c:v>
                </c:pt>
                <c:pt idx="26">
                  <c:v>07-27</c:v>
                </c:pt>
                <c:pt idx="27">
                  <c:v>07-28</c:v>
                </c:pt>
                <c:pt idx="28">
                  <c:v>07-29</c:v>
                </c:pt>
                <c:pt idx="29">
                  <c:v>07-30</c:v>
                </c:pt>
                <c:pt idx="30">
                  <c:v>07-31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3670.6</c:v>
                </c:pt>
                <c:pt idx="1">
                  <c:v>3472.3</c:v>
                </c:pt>
                <c:pt idx="2">
                  <c:v>3205.7</c:v>
                </c:pt>
                <c:pt idx="3">
                  <c:v>2798.7</c:v>
                </c:pt>
                <c:pt idx="4">
                  <c:v>3501.1</c:v>
                </c:pt>
                <c:pt idx="5">
                  <c:v>3499.8</c:v>
                </c:pt>
                <c:pt idx="6">
                  <c:v>3589.0</c:v>
                </c:pt>
                <c:pt idx="7">
                  <c:v>3648.0</c:v>
                </c:pt>
                <c:pt idx="8">
                  <c:v>3489.7</c:v>
                </c:pt>
                <c:pt idx="9">
                  <c:v>3247.3</c:v>
                </c:pt>
                <c:pt idx="10">
                  <c:v>3327.7</c:v>
                </c:pt>
                <c:pt idx="11">
                  <c:v>3636.8</c:v>
                </c:pt>
                <c:pt idx="12">
                  <c:v>3678.8</c:v>
                </c:pt>
                <c:pt idx="13">
                  <c:v>4047.4</c:v>
                </c:pt>
                <c:pt idx="14">
                  <c:v>3912.1</c:v>
                </c:pt>
                <c:pt idx="15">
                  <c:v>3506.4</c:v>
                </c:pt>
                <c:pt idx="16">
                  <c:v>3181.0</c:v>
                </c:pt>
                <c:pt idx="17">
                  <c:v>3223.2</c:v>
                </c:pt>
                <c:pt idx="18">
                  <c:v>3405.0</c:v>
                </c:pt>
                <c:pt idx="19">
                  <c:v>3402.3</c:v>
                </c:pt>
                <c:pt idx="20">
                  <c:v>3822.0</c:v>
                </c:pt>
                <c:pt idx="21">
                  <c:v>3664.7</c:v>
                </c:pt>
                <c:pt idx="22">
                  <c:v>3898.4</c:v>
                </c:pt>
                <c:pt idx="23">
                  <c:v>3146.8</c:v>
                </c:pt>
                <c:pt idx="24">
                  <c:v>3231.8</c:v>
                </c:pt>
                <c:pt idx="25">
                  <c:v>3723.5</c:v>
                </c:pt>
                <c:pt idx="26">
                  <c:v>3976.7</c:v>
                </c:pt>
                <c:pt idx="27">
                  <c:v>3715.0</c:v>
                </c:pt>
                <c:pt idx="28">
                  <c:v>3586.9</c:v>
                </c:pt>
                <c:pt idx="29">
                  <c:v>3454.1</c:v>
                </c:pt>
                <c:pt idx="30">
                  <c:v>3221.2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每日 TACOS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每日 TACOS</c:v>
                </c:pt>
              </c:strCache>
            </c:strRef>
          </c:tx>
          <c:spPr>
            <a:ln w="25400">
              <a:solidFill>
                <a:srgbClr val="D99A3D"/>
              </a:solidFill>
            </a:ln>
          </c:spPr>
          <c:cat>
            <c:strRef>
              <c:f>Sheet1!$A$2:$A$32</c:f>
              <c:strCache>
                <c:ptCount val="31"/>
                <c:pt idx="0">
                  <c:v>07-01</c:v>
                </c:pt>
                <c:pt idx="1">
                  <c:v>07-02</c:v>
                </c:pt>
                <c:pt idx="2">
                  <c:v>07-03</c:v>
                </c:pt>
                <c:pt idx="3">
                  <c:v>07-04</c:v>
                </c:pt>
                <c:pt idx="4">
                  <c:v>07-05</c:v>
                </c:pt>
                <c:pt idx="5">
                  <c:v>07-06</c:v>
                </c:pt>
                <c:pt idx="6">
                  <c:v>07-07</c:v>
                </c:pt>
                <c:pt idx="7">
                  <c:v>07-08</c:v>
                </c:pt>
                <c:pt idx="8">
                  <c:v>07-09</c:v>
                </c:pt>
                <c:pt idx="9">
                  <c:v>07-10</c:v>
                </c:pt>
                <c:pt idx="10">
                  <c:v>07-11</c:v>
                </c:pt>
                <c:pt idx="11">
                  <c:v>07-12</c:v>
                </c:pt>
                <c:pt idx="12">
                  <c:v>07-13</c:v>
                </c:pt>
                <c:pt idx="13">
                  <c:v>07-14</c:v>
                </c:pt>
                <c:pt idx="14">
                  <c:v>07-15</c:v>
                </c:pt>
                <c:pt idx="15">
                  <c:v>07-16</c:v>
                </c:pt>
                <c:pt idx="16">
                  <c:v>07-17</c:v>
                </c:pt>
                <c:pt idx="17">
                  <c:v>07-18</c:v>
                </c:pt>
                <c:pt idx="18">
                  <c:v>07-19</c:v>
                </c:pt>
                <c:pt idx="19">
                  <c:v>07-20</c:v>
                </c:pt>
                <c:pt idx="20">
                  <c:v>07-21</c:v>
                </c:pt>
                <c:pt idx="21">
                  <c:v>07-22</c:v>
                </c:pt>
                <c:pt idx="22">
                  <c:v>07-23</c:v>
                </c:pt>
                <c:pt idx="23">
                  <c:v>07-24</c:v>
                </c:pt>
                <c:pt idx="24">
                  <c:v>07-25</c:v>
                </c:pt>
                <c:pt idx="25">
                  <c:v>07-26</c:v>
                </c:pt>
                <c:pt idx="26">
                  <c:v>07-27</c:v>
                </c:pt>
                <c:pt idx="27">
                  <c:v>07-28</c:v>
                </c:pt>
                <c:pt idx="28">
                  <c:v>07-29</c:v>
                </c:pt>
                <c:pt idx="29">
                  <c:v>07-30</c:v>
                </c:pt>
                <c:pt idx="30">
                  <c:v>07-31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12.93</c:v>
                </c:pt>
                <c:pt idx="1">
                  <c:v>12.13</c:v>
                </c:pt>
                <c:pt idx="2">
                  <c:v>12.56</c:v>
                </c:pt>
                <c:pt idx="3">
                  <c:v>13.26</c:v>
                </c:pt>
                <c:pt idx="4">
                  <c:v>13.15</c:v>
                </c:pt>
                <c:pt idx="5">
                  <c:v>12.42</c:v>
                </c:pt>
                <c:pt idx="6">
                  <c:v>13.29</c:v>
                </c:pt>
                <c:pt idx="7">
                  <c:v>14.18</c:v>
                </c:pt>
                <c:pt idx="8">
                  <c:v>13.94</c:v>
                </c:pt>
                <c:pt idx="9">
                  <c:v>13.85</c:v>
                </c:pt>
                <c:pt idx="10">
                  <c:v>16.07</c:v>
                </c:pt>
                <c:pt idx="11">
                  <c:v>17.09</c:v>
                </c:pt>
                <c:pt idx="12">
                  <c:v>14.88</c:v>
                </c:pt>
                <c:pt idx="13">
                  <c:v>13.72</c:v>
                </c:pt>
                <c:pt idx="14">
                  <c:v>14.48</c:v>
                </c:pt>
                <c:pt idx="15">
                  <c:v>13.24</c:v>
                </c:pt>
                <c:pt idx="16">
                  <c:v>11.9</c:v>
                </c:pt>
                <c:pt idx="17">
                  <c:v>15.03</c:v>
                </c:pt>
                <c:pt idx="18">
                  <c:v>14.01</c:v>
                </c:pt>
                <c:pt idx="19">
                  <c:v>13.39</c:v>
                </c:pt>
                <c:pt idx="20">
                  <c:v>13.83</c:v>
                </c:pt>
                <c:pt idx="21">
                  <c:v>13.61</c:v>
                </c:pt>
                <c:pt idx="22">
                  <c:v>13.02</c:v>
                </c:pt>
                <c:pt idx="23">
                  <c:v>13.49</c:v>
                </c:pt>
                <c:pt idx="24">
                  <c:v>15.74</c:v>
                </c:pt>
                <c:pt idx="25">
                  <c:v>14.79</c:v>
                </c:pt>
                <c:pt idx="26">
                  <c:v>13.82</c:v>
                </c:pt>
                <c:pt idx="27">
                  <c:v>13.52</c:v>
                </c:pt>
                <c:pt idx="28">
                  <c:v>13.0</c:v>
                </c:pt>
                <c:pt idx="29">
                  <c:v>12.58</c:v>
                </c:pt>
                <c:pt idx="30">
                  <c:v>11.76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73152"/>
          </a:xfrm>
          <a:prstGeom prst="roundRect">
            <a:avLst/>
          </a:prstGeom>
          <a:solidFill>
            <a:srgbClr val="D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跨境电商广告 · 目标达成看板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E6EEF5"/>
                </a:solidFill>
                <a:latin typeface="Microsoft YaHei"/>
                <a:ea typeface="Microsoft YaHei"/>
              </a:rPr>
              <a:t>2026 年 7 月达成数据汇报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9C9D9"/>
                </a:solidFill>
                <a:latin typeface="Microsoft YaHei"/>
                <a:ea typeface="Microsoft YaHei"/>
              </a:rPr>
              <a:t>数据区间：2026-07-01 ~ 2026-07-31    |    生成于本地看板数据 v20260803d1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EEF5"/>
                </a:solidFill>
                <a:latin typeface="Microsoft YaHei"/>
                <a:ea typeface="Microsoft YaHei"/>
              </a:rPr>
              <a:t>实际广告花费 $108,884  /  目标 $112,902  /  花费完成率 96.4%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一、7 月目标达成总览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核心指标：花费完成率、费比（TACOS）完成率、时间进度偏差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实际广告花费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$108,884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目标 $112,902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花费完成率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96.4%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vs 时间进度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 TACOS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13.6%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目标 14.0%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14300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费比完成率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103.1%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≥100% 达标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 ACOS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25.3%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广告销售额 $430,955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实际 CPC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$0.88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点击 123,903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总销售额</a:t>
            </a:r>
          </a:p>
          <a:p>
            <a:pPr algn="ctr"/>
            <a:r>
              <a:rPr sz="2600" b="1">
                <a:solidFill>
                  <a:srgbClr val="33608C"/>
                </a:solidFill>
                <a:latin typeface="Microsoft YaHei"/>
              </a:rPr>
              <a:t>$799,482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目标 $804,379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2834640"/>
            <a:ext cx="2743200" cy="15544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262B33"/>
                </a:solidFill>
                <a:latin typeface="Microsoft YaHei"/>
                <a:ea typeface="Microsoft YaHei"/>
              </a:rPr>
              <a:t/>
            </a:r>
            <a:r>
              <a:rPr sz="1300">
                <a:solidFill>
                  <a:srgbClr val="7A8089"/>
                </a:solidFill>
                <a:latin typeface="Microsoft YaHei"/>
              </a:rPr>
              <a:t>进度偏差</a:t>
            </a:r>
          </a:p>
          <a:p>
            <a:pPr algn="ctr"/>
            <a:r>
              <a:rPr sz="2600" b="1">
                <a:solidFill>
                  <a:srgbClr val="3A8F6C"/>
                </a:solidFill>
                <a:latin typeface="Microsoft YaHei"/>
              </a:rPr>
              <a:t>-3.6%</a:t>
            </a:r>
          </a:p>
          <a:p>
            <a:pPr algn="ctr"/>
            <a:r>
              <a:rPr sz="1100">
                <a:solidFill>
                  <a:srgbClr val="7A8089"/>
                </a:solidFill>
                <a:latin typeface="Microsoft YaHei"/>
              </a:rPr>
              <a:t>花费 vs 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二、类目费比（TACOS）完成率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完成率 = 目标 TACOS / 实际 TACOS，≥100% 表示费比达标（实际费比不高于目标）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694944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0972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B33"/>
                </a:solidFill>
                <a:latin typeface="Microsoft YaHei"/>
                <a:ea typeface="Microsoft YaHei"/>
              </a:rPr>
              <a:t>类目排行（完成率降序）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508760"/>
          <a:ext cx="4023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类目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目标TACOS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实际TACOS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食品真空机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A8F6C"/>
                          </a:solidFill>
                        </a:rPr>
                        <a:t>14.2%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长条衣架挂钩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A8F6C"/>
                          </a:solidFill>
                        </a:rPr>
                        <a:t>7.4%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风扇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A8F6C"/>
                          </a:solidFill>
                        </a:rPr>
                        <a:t>8.2%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贴片挂钩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18.1%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塑封机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14.8%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不锈钢贴片挂钩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14.6%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衣架连接挂钩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15.2%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小夜灯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7.2%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</a:rPr>
                        <a:t>理线挂钩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</a:rPr>
                        <a:t>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453E"/>
                          </a:solidFill>
                        </a:rPr>
                        <a:t>11.9%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三、负责人 / 国家 费比（TACOS）完成率排行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费比完成率 = 目标 TACOS / 实际 TACOS，≥100% 表示费比达标（实际费比不高于目标）；末列附花费完成率对照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B33"/>
                </a:solidFill>
                <a:latin typeface="Microsoft YaHei"/>
                <a:ea typeface="Microsoft YaHei"/>
              </a:rPr>
              <a:t>负责人 Top（按费比完成率降序）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1280160"/>
                <a:gridCol w="1005840"/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目标TACOS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实际TACOS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费比完成率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花费完成率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celilia_zhao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  <a:latin typeface="Microsoft YaHei"/>
                        </a:rPr>
                        <a:t>80.8%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mingle_hu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116.0%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90.9%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linger_lin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109.9%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  <a:latin typeface="Microsoft YaHei"/>
                        </a:rPr>
                        <a:t>84.5%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mona_lang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22.0%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109.4%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103.3%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june_wan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98.8%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118.2%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nine_xiao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98.5%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  <a:latin typeface="Microsoft YaHei"/>
                        </a:rPr>
                        <a:t>83.9%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mina_fu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90.4%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110.6%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2B33"/>
                </a:solidFill>
                <a:latin typeface="Microsoft YaHei"/>
                <a:ea typeface="Microsoft YaHei"/>
              </a:rPr>
              <a:t>国家 Top（按费比完成率降序）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5087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1280160"/>
                <a:gridCol w="1005840"/>
              </a:tblGrid>
              <a:tr h="57476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目标TACOS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实际TACOS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费比完成率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花费完成率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  <a:latin typeface="Microsoft YaHei"/>
                        </a:rPr>
                        <a:t>80.8%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116.0%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453E"/>
                          </a:solidFill>
                          <a:latin typeface="Microsoft YaHei"/>
                        </a:rPr>
                        <a:t>79.1%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106.5%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106.7%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105.4%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88.0%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97.0%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88.7%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B33"/>
                          </a:solidFill>
                          <a:latin typeface="Microsoft YaHei"/>
                        </a:rPr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7A8089"/>
                          </a:solidFill>
                          <a:latin typeface="Microsoft YaHei"/>
                        </a:rPr>
                        <a:t>16.8%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99A3D"/>
                          </a:solidFill>
                          <a:latin typeface="Microsoft YaHei"/>
                        </a:rPr>
                        <a:t>95.3%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8F6C"/>
                          </a:solidFill>
                          <a:latin typeface="Microsoft YaHei"/>
                        </a:rPr>
                        <a:t>108.6%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四、7 月每日广告花费与 TACOS 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观察花费投放节奏与费比波动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55778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097280"/>
          <a:ext cx="548640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五、差距归因：7 月 vs 6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对比上月同口径，定位花费/费比变化驱动因素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  <a:gridCol w="2743200"/>
                <a:gridCol w="2743200"/>
              </a:tblGrid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7月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6月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变化</a:t>
                      </a:r>
                    </a:p>
                  </a:txBody>
                  <a:tcPr>
                    <a:solidFill>
                      <a:srgbClr val="33608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广告花费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$108,884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$109,010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-0.1%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总销售额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$799,482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$805,097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-0.7%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广告销售额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$430,955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$431,635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-0.2%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TACOS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+0.1pp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+0.0pp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8F6C"/>
                          </a:solidFill>
                        </a:rPr>
                        <a:t>-3.5%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-0.0pp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453E"/>
                          </a:solidFill>
                        </a:rPr>
                        <a:t>-0.1pp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B33"/>
                          </a:solidFill>
                        </a:rPr>
                        <a:t>点击量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$123,903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$119,715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8F6C"/>
                          </a:solidFill>
                        </a:rPr>
                        <a:t>+3.5%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33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六、改进建议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DEA"/>
                </a:solidFill>
                <a:latin typeface="Microsoft YaHei"/>
                <a:ea typeface="Microsoft YaHei"/>
              </a:rPr>
              <a:t>基于 7 月达成与上月对比自动生成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✅ 投放节奏健康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花费完成率与时间进度偏差仅 -3.6%，保持当前节奏，重点转向结构性优化（词级调价、时段分配）。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🏆 费比达标，可适度放量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实际 TACOS 13.6% 优于目标 14.0%，有 3.1% 余量。在守住费比红线的前提下，对优质词与达标类目增预算换规模。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718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📊 类目结构差异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费比最优类目「食品真空机」完成率 144.3%；最弱类目「理线挂钩」完成率 47.8%。建议预算向达标类目集中，最弱类目先做词级诊断再决定加投或收缩。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86200"/>
            <a:ext cx="11247120" cy="841248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33608C"/>
                </a:solidFill>
                <a:latin typeface="Microsoft YaHei"/>
              </a:rPr>
              <a:t>📅 月末冲刺机制</a:t>
            </a:r>
          </a:p>
          <a:p>
            <a:r>
              <a:rPr sz="1100">
                <a:solidFill>
                  <a:srgbClr val="262B33"/>
                </a:solidFill>
                <a:latin typeface="Microsoft YaHei"/>
              </a:rPr>
              <a:t>每周一复盘各负责人/国家花费与费比完成率排行，落后者提交改进计划；月末最后一周锁定预算分配，避免为冲花费完成率而牺牲费比。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